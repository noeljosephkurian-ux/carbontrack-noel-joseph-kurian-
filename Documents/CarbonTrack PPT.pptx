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relia" charset="1" panose="00000500000000000000"/>
      <p:regular r:id="rId20"/>
    </p:embeddedFont>
    <p:embeddedFont>
      <p:font typeface="Times New Roman" charset="1" panose="02020603050405020304"/>
      <p:regular r:id="rId21"/>
    </p:embeddedFont>
    <p:embeddedFont>
      <p:font typeface="Open Sans 1" charset="1" panose="020B0606030504020204"/>
      <p:regular r:id="rId22"/>
    </p:embeddedFont>
    <p:embeddedFont>
      <p:font typeface="Open Sans 2" charset="1" panose="00000000000000000000"/>
      <p:regular r:id="rId23"/>
    </p:embeddedFont>
    <p:embeddedFont>
      <p:font typeface="Open Sans 1 Bold" charset="1" panose="020B0806030504020204"/>
      <p:regular r:id="rId24"/>
    </p:embeddedFont>
    <p:embeddedFont>
      <p:font typeface="Glacial Indifference" charset="1" panose="00000000000000000000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  <p:embeddedFont>
      <p:font typeface="Open Sans 2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82480"/>
            <a:ext cx="18288000" cy="2804520"/>
            <a:chOff x="0" y="0"/>
            <a:chExt cx="3762963" cy="5770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62963" cy="577062"/>
            </a:xfrm>
            <a:custGeom>
              <a:avLst/>
              <a:gdLst/>
              <a:ahLst/>
              <a:cxnLst/>
              <a:rect r="r" b="b" t="t" l="l"/>
              <a:pathLst>
                <a:path h="577062" w="3762963">
                  <a:moveTo>
                    <a:pt x="0" y="0"/>
                  </a:moveTo>
                  <a:lnTo>
                    <a:pt x="3762963" y="0"/>
                  </a:lnTo>
                  <a:lnTo>
                    <a:pt x="3762963" y="577062"/>
                  </a:lnTo>
                  <a:lnTo>
                    <a:pt x="0" y="577062"/>
                  </a:lnTo>
                  <a:close/>
                </a:path>
              </a:pathLst>
            </a:custGeom>
            <a:solidFill>
              <a:srgbClr val="A258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62963" cy="615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31449" y="5143500"/>
            <a:ext cx="3744468" cy="4114800"/>
          </a:xfrm>
          <a:custGeom>
            <a:avLst/>
            <a:gdLst/>
            <a:ahLst/>
            <a:cxnLst/>
            <a:rect r="r" b="b" t="t" l="l"/>
            <a:pathLst>
              <a:path h="4114800" w="3744468">
                <a:moveTo>
                  <a:pt x="0" y="0"/>
                </a:moveTo>
                <a:lnTo>
                  <a:pt x="3744468" y="0"/>
                </a:lnTo>
                <a:lnTo>
                  <a:pt x="3744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35900" y="463562"/>
            <a:ext cx="2323400" cy="2539236"/>
          </a:xfrm>
          <a:custGeom>
            <a:avLst/>
            <a:gdLst/>
            <a:ahLst/>
            <a:cxnLst/>
            <a:rect r="r" b="b" t="t" l="l"/>
            <a:pathLst>
              <a:path h="2539236" w="2323400">
                <a:moveTo>
                  <a:pt x="0" y="0"/>
                </a:moveTo>
                <a:lnTo>
                  <a:pt x="2323400" y="0"/>
                </a:lnTo>
                <a:lnTo>
                  <a:pt x="2323400" y="2539236"/>
                </a:lnTo>
                <a:lnTo>
                  <a:pt x="0" y="2539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29206" y="7959914"/>
            <a:ext cx="2326606" cy="1849652"/>
          </a:xfrm>
          <a:custGeom>
            <a:avLst/>
            <a:gdLst/>
            <a:ahLst/>
            <a:cxnLst/>
            <a:rect r="r" b="b" t="t" l="l"/>
            <a:pathLst>
              <a:path h="1849652" w="2326606">
                <a:moveTo>
                  <a:pt x="0" y="0"/>
                </a:moveTo>
                <a:lnTo>
                  <a:pt x="2326606" y="0"/>
                </a:lnTo>
                <a:lnTo>
                  <a:pt x="2326606" y="1849652"/>
                </a:lnTo>
                <a:lnTo>
                  <a:pt x="0" y="18496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81001" y="3316074"/>
            <a:ext cx="16525998" cy="1269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3"/>
              </a:lnSpc>
              <a:spcBef>
                <a:spcPct val="0"/>
              </a:spcBef>
            </a:pPr>
            <a:r>
              <a:rPr lang="en-US" sz="7409">
                <a:solidFill>
                  <a:srgbClr val="A2583D"/>
                </a:solidFill>
                <a:latin typeface="Carelia"/>
                <a:ea typeface="Carelia"/>
                <a:cs typeface="Carelia"/>
                <a:sym typeface="Carelia"/>
              </a:rPr>
              <a:t>CARBON FOOTPRINT CALCULATOR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00855" y="5661911"/>
            <a:ext cx="4967296" cy="450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85"/>
              </a:lnSpc>
            </a:pPr>
            <a:r>
              <a:rPr lang="en-US" sz="3632">
                <a:solidFill>
                  <a:srgbClr val="A258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 :</a:t>
            </a:r>
          </a:p>
          <a:p>
            <a:pPr algn="just">
              <a:lnSpc>
                <a:spcPts val="5085"/>
              </a:lnSpc>
            </a:pPr>
            <a:r>
              <a:rPr lang="en-US" sz="3632">
                <a:solidFill>
                  <a:srgbClr val="A258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Noel Joseph Kurian</a:t>
            </a:r>
          </a:p>
          <a:p>
            <a:pPr algn="just">
              <a:lnSpc>
                <a:spcPts val="5085"/>
              </a:lnSpc>
            </a:pPr>
            <a:r>
              <a:rPr lang="en-US" sz="3632">
                <a:solidFill>
                  <a:srgbClr val="A258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Nora Sierra Nebu</a:t>
            </a:r>
          </a:p>
          <a:p>
            <a:pPr algn="just">
              <a:lnSpc>
                <a:spcPts val="5085"/>
              </a:lnSpc>
            </a:pPr>
            <a:r>
              <a:rPr lang="en-US" sz="3632">
                <a:solidFill>
                  <a:srgbClr val="FFF7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Parvana Mohan</a:t>
            </a:r>
          </a:p>
          <a:p>
            <a:pPr algn="just">
              <a:lnSpc>
                <a:spcPts val="5085"/>
              </a:lnSpc>
            </a:pPr>
            <a:r>
              <a:rPr lang="en-US" sz="3632">
                <a:solidFill>
                  <a:srgbClr val="FFF7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Pooja Reji</a:t>
            </a:r>
          </a:p>
          <a:p>
            <a:pPr algn="just">
              <a:lnSpc>
                <a:spcPts val="5085"/>
              </a:lnSpc>
            </a:pPr>
            <a:r>
              <a:rPr lang="en-US" sz="3632">
                <a:solidFill>
                  <a:srgbClr val="FFF7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Poorna Sidharth</a:t>
            </a:r>
          </a:p>
          <a:p>
            <a:pPr algn="just">
              <a:lnSpc>
                <a:spcPts val="5085"/>
              </a:lnSpc>
              <a:spcBef>
                <a:spcPct val="0"/>
              </a:spcBef>
            </a:pPr>
            <a:r>
              <a:rPr lang="en-US" sz="3632">
                <a:solidFill>
                  <a:srgbClr val="FFF7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Poornasreee K J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36837" y="532536"/>
            <a:ext cx="14614326" cy="136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3"/>
              </a:lnSpc>
              <a:spcBef>
                <a:spcPct val="0"/>
              </a:spcBef>
            </a:pPr>
            <a:r>
              <a:rPr lang="en-US" sz="8009">
                <a:solidFill>
                  <a:srgbClr val="A2583D"/>
                </a:solidFill>
                <a:latin typeface="Carelia"/>
                <a:ea typeface="Carelia"/>
                <a:cs typeface="Carelia"/>
                <a:sym typeface="Carelia"/>
              </a:rPr>
              <a:t>TABLE OF CONTENTS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34914"/>
            <a:ext cx="13622417" cy="709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A2583D"/>
                </a:solidFill>
                <a:latin typeface="Open Sans 1"/>
                <a:ea typeface="Open Sans 1"/>
                <a:cs typeface="Open Sans 1"/>
                <a:sym typeface="Open Sans 1"/>
              </a:rPr>
              <a:t>1. WHAT IS CARBON FOOTPRINT?</a:t>
            </a:r>
          </a:p>
          <a:p>
            <a:pPr algn="l">
              <a:lnSpc>
                <a:spcPts val="5110"/>
              </a:lnSpc>
              <a:spcBef>
                <a:spcPct val="0"/>
              </a:spcBef>
            </a:pPr>
          </a:p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A2583D"/>
                </a:solidFill>
                <a:latin typeface="Open Sans 1"/>
                <a:ea typeface="Open Sans 1"/>
                <a:cs typeface="Open Sans 1"/>
                <a:sym typeface="Open Sans 1"/>
              </a:rPr>
              <a:t>2. WHAT IS THE PROBLEM?  WHY DO WE NEED A CALCULATOR?</a:t>
            </a:r>
          </a:p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A2583D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</a:p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A2583D"/>
                </a:solidFill>
                <a:latin typeface="Open Sans 1"/>
                <a:ea typeface="Open Sans 1"/>
                <a:cs typeface="Open Sans 1"/>
                <a:sym typeface="Open Sans 1"/>
              </a:rPr>
              <a:t>3.OUR WEBSITE</a:t>
            </a:r>
          </a:p>
          <a:p>
            <a:pPr algn="l">
              <a:lnSpc>
                <a:spcPts val="5110"/>
              </a:lnSpc>
              <a:spcBef>
                <a:spcPct val="0"/>
              </a:spcBef>
            </a:pPr>
          </a:p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A2583D"/>
                </a:solidFill>
                <a:latin typeface="Open Sans 1"/>
                <a:ea typeface="Open Sans 1"/>
                <a:cs typeface="Open Sans 1"/>
                <a:sym typeface="Open Sans 1"/>
              </a:rPr>
              <a:t>4.SUSTAINABILITY ANALYSIS </a:t>
            </a:r>
          </a:p>
          <a:p>
            <a:pPr algn="l">
              <a:lnSpc>
                <a:spcPts val="5110"/>
              </a:lnSpc>
              <a:spcBef>
                <a:spcPct val="0"/>
              </a:spcBef>
            </a:pPr>
          </a:p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A2583D"/>
                </a:solidFill>
                <a:latin typeface="Open Sans 1"/>
                <a:ea typeface="Open Sans 1"/>
                <a:cs typeface="Open Sans 1"/>
                <a:sym typeface="Open Sans 1"/>
              </a:rPr>
              <a:t>5.HOW CAN WE REDUCE EMISSIONS? </a:t>
            </a:r>
          </a:p>
          <a:p>
            <a:pPr algn="l">
              <a:lnSpc>
                <a:spcPts val="5110"/>
              </a:lnSpc>
              <a:spcBef>
                <a:spcPct val="0"/>
              </a:spcBef>
            </a:pPr>
          </a:p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A2583D"/>
                </a:solidFill>
                <a:latin typeface="Open Sans 1"/>
                <a:ea typeface="Open Sans 1"/>
                <a:cs typeface="Open Sans 1"/>
                <a:sym typeface="Open Sans 1"/>
              </a:rPr>
              <a:t>6.CONCLUSION &amp; FUTURE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25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90002" y="5381512"/>
            <a:ext cx="4222276" cy="4114800"/>
          </a:xfrm>
          <a:custGeom>
            <a:avLst/>
            <a:gdLst/>
            <a:ahLst/>
            <a:cxnLst/>
            <a:rect r="r" b="b" t="t" l="l"/>
            <a:pathLst>
              <a:path h="4114800" w="4222276">
                <a:moveTo>
                  <a:pt x="0" y="0"/>
                </a:moveTo>
                <a:lnTo>
                  <a:pt x="4222276" y="0"/>
                </a:lnTo>
                <a:lnTo>
                  <a:pt x="4222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979" y="240217"/>
            <a:ext cx="2313085" cy="2275235"/>
          </a:xfrm>
          <a:custGeom>
            <a:avLst/>
            <a:gdLst/>
            <a:ahLst/>
            <a:cxnLst/>
            <a:rect r="r" b="b" t="t" l="l"/>
            <a:pathLst>
              <a:path h="2275235" w="2313085">
                <a:moveTo>
                  <a:pt x="0" y="0"/>
                </a:moveTo>
                <a:lnTo>
                  <a:pt x="2313085" y="0"/>
                </a:lnTo>
                <a:lnTo>
                  <a:pt x="2313085" y="2275235"/>
                </a:lnTo>
                <a:lnTo>
                  <a:pt x="0" y="2275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805257">
            <a:off x="-519869" y="6554553"/>
            <a:ext cx="4683387" cy="6407619"/>
          </a:xfrm>
          <a:custGeom>
            <a:avLst/>
            <a:gdLst/>
            <a:ahLst/>
            <a:cxnLst/>
            <a:rect r="r" b="b" t="t" l="l"/>
            <a:pathLst>
              <a:path h="6407619" w="4683387">
                <a:moveTo>
                  <a:pt x="0" y="0"/>
                </a:moveTo>
                <a:lnTo>
                  <a:pt x="4683387" y="0"/>
                </a:lnTo>
                <a:lnTo>
                  <a:pt x="4683387" y="6407619"/>
                </a:lnTo>
                <a:lnTo>
                  <a:pt x="0" y="64076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76390" y="532536"/>
            <a:ext cx="14614326" cy="2787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13"/>
              </a:lnSpc>
              <a:spcBef>
                <a:spcPct val="0"/>
              </a:spcBef>
            </a:pPr>
            <a:r>
              <a:rPr lang="en-US" sz="8009">
                <a:solidFill>
                  <a:srgbClr val="FFF7F0"/>
                </a:solidFill>
                <a:latin typeface="Carelia"/>
                <a:ea typeface="Carelia"/>
                <a:cs typeface="Carelia"/>
                <a:sym typeface="Carelia"/>
              </a:rPr>
              <a:t>ENVIRONMENTAL PROBLEM: HIGH CARBON EMISSIONS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67771" y="3647077"/>
            <a:ext cx="14691529" cy="386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87391" indent="-393696" lvl="1">
              <a:lnSpc>
                <a:spcPts val="5105"/>
              </a:lnSpc>
              <a:buFont typeface="Arial"/>
              <a:buChar char="•"/>
            </a:pPr>
            <a:r>
              <a:rPr lang="en-US" sz="3647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Increasing greenhouse gas emissions</a:t>
            </a:r>
          </a:p>
          <a:p>
            <a:pPr algn="just" marL="787391" indent="-393696" lvl="1">
              <a:lnSpc>
                <a:spcPts val="5105"/>
              </a:lnSpc>
              <a:buFont typeface="Arial"/>
              <a:buChar char="•"/>
            </a:pPr>
            <a:r>
              <a:rPr lang="en-US" sz="3647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Major contributors: transportation, electricity, industries, food, and waste</a:t>
            </a:r>
          </a:p>
          <a:p>
            <a:pPr algn="just" marL="787391" indent="-393696" lvl="1">
              <a:lnSpc>
                <a:spcPts val="5105"/>
              </a:lnSpc>
              <a:buFont typeface="Arial"/>
              <a:buChar char="•"/>
            </a:pPr>
            <a:r>
              <a:rPr lang="en-US" sz="3647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Leads to global warming and climate change</a:t>
            </a:r>
          </a:p>
          <a:p>
            <a:pPr algn="just" marL="787391" indent="-393696" lvl="1">
              <a:lnSpc>
                <a:spcPts val="5105"/>
              </a:lnSpc>
              <a:buFont typeface="Arial"/>
              <a:buChar char="•"/>
            </a:pPr>
            <a:r>
              <a:rPr lang="en-US" sz="3647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Need for awareness and reduction of individual emissions</a:t>
            </a:r>
          </a:p>
          <a:p>
            <a:pPr algn="just">
              <a:lnSpc>
                <a:spcPts val="510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A25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89018" y="696479"/>
            <a:ext cx="13688497" cy="1194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8"/>
              </a:lnSpc>
              <a:spcBef>
                <a:spcPct val="0"/>
              </a:spcBef>
            </a:pPr>
            <a:r>
              <a:rPr lang="en-US" sz="6991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rPr>
              <a:t>WHAT IS CARBON FOOTPRINT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6950" y="2232704"/>
            <a:ext cx="18071050" cy="839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0"/>
              </a:lnSpc>
              <a:spcBef>
                <a:spcPct val="0"/>
              </a:spcBef>
            </a:pPr>
            <a:r>
              <a:rPr lang="en-US" b="true" sz="3650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The total amount of greenhouse gases released into the atmosphere as a result of our activities, usually expressed as carbon dioxide equivalent (CO₂e).</a:t>
            </a:r>
          </a:p>
          <a:p>
            <a:pPr algn="ctr">
              <a:lnSpc>
                <a:spcPts val="5110"/>
              </a:lnSpc>
              <a:spcBef>
                <a:spcPct val="0"/>
              </a:spcBef>
            </a:pPr>
          </a:p>
          <a:p>
            <a:pPr algn="l" marL="788036" indent="-394018" lvl="1">
              <a:lnSpc>
                <a:spcPts val="5110"/>
              </a:lnSpc>
              <a:buFont typeface="Arial"/>
              <a:buChar char="•"/>
            </a:pP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Mainly associated with carbon dioxide (CO₂) and other greenhouse gases</a:t>
            </a:r>
          </a:p>
          <a:p>
            <a:pPr algn="l" marL="788036" indent="-39401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Measured in CO₂ equivalent (CO₂e)</a:t>
            </a:r>
          </a:p>
          <a:p>
            <a:pPr algn="l" marL="788036" indent="-39401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Generated directly or indirectly by our daily activities</a:t>
            </a:r>
          </a:p>
          <a:p>
            <a:pPr algn="l">
              <a:lnSpc>
                <a:spcPts val="5110"/>
              </a:lnSpc>
              <a:spcBef>
                <a:spcPct val="0"/>
              </a:spcBef>
            </a:pP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Examples:</a:t>
            </a:r>
          </a:p>
          <a:p>
            <a:pPr algn="l" marL="788036" indent="-39401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Transportation</a:t>
            </a:r>
          </a:p>
          <a:p>
            <a:pPr algn="l" marL="788036" indent="-39401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Electricity usage</a:t>
            </a:r>
          </a:p>
          <a:p>
            <a:pPr algn="l" marL="788036" indent="-39401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Food consumption</a:t>
            </a:r>
          </a:p>
          <a:p>
            <a:pPr algn="l" marL="788036" indent="-39401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Production and purchase of goods</a:t>
            </a:r>
          </a:p>
          <a:p>
            <a:pPr algn="l" marL="788036" indent="-394018" lvl="1">
              <a:lnSpc>
                <a:spcPts val="5110"/>
              </a:lnSpc>
              <a:spcBef>
                <a:spcPct val="0"/>
              </a:spcBef>
              <a:buFont typeface="Arial"/>
              <a:buChar char="•"/>
            </a:pP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365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Waste generation</a:t>
            </a:r>
          </a:p>
          <a:p>
            <a:pPr algn="ctr">
              <a:lnSpc>
                <a:spcPts val="51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70004">
            <a:off x="14603116" y="96098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37439" y="6578133"/>
            <a:ext cx="2566139" cy="4114800"/>
          </a:xfrm>
          <a:custGeom>
            <a:avLst/>
            <a:gdLst/>
            <a:ahLst/>
            <a:cxnLst/>
            <a:rect r="r" b="b" t="t" l="l"/>
            <a:pathLst>
              <a:path h="4114800" w="2566139">
                <a:moveTo>
                  <a:pt x="0" y="0"/>
                </a:moveTo>
                <a:lnTo>
                  <a:pt x="2566139" y="0"/>
                </a:lnTo>
                <a:lnTo>
                  <a:pt x="25661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37715" y="1980285"/>
            <a:ext cx="704850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A2583D"/>
                </a:solidFill>
                <a:latin typeface="Carelia"/>
                <a:ea typeface="Carelia"/>
                <a:cs typeface="Carelia"/>
                <a:sym typeface="Carelia"/>
              </a:rPr>
              <a:t>CO2 EMISSIONS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7913548" y="2283129"/>
            <a:ext cx="0" cy="7801055"/>
          </a:xfrm>
          <a:prstGeom prst="line">
            <a:avLst/>
          </a:prstGeom>
          <a:ln cap="flat" w="66675">
            <a:solidFill>
              <a:srgbClr val="A2583D">
                <a:alpha val="46667"/>
              </a:srgbClr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484103" y="2588615"/>
            <a:ext cx="2377061" cy="1584707"/>
          </a:xfrm>
          <a:custGeom>
            <a:avLst/>
            <a:gdLst/>
            <a:ahLst/>
            <a:cxnLst/>
            <a:rect r="r" b="b" t="t" l="l"/>
            <a:pathLst>
              <a:path h="1584707" w="2377061">
                <a:moveTo>
                  <a:pt x="0" y="0"/>
                </a:moveTo>
                <a:lnTo>
                  <a:pt x="2377061" y="0"/>
                </a:lnTo>
                <a:lnTo>
                  <a:pt x="2377061" y="1584707"/>
                </a:lnTo>
                <a:lnTo>
                  <a:pt x="0" y="15847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80069" y="4403691"/>
            <a:ext cx="2281095" cy="1779817"/>
          </a:xfrm>
          <a:custGeom>
            <a:avLst/>
            <a:gdLst/>
            <a:ahLst/>
            <a:cxnLst/>
            <a:rect r="r" b="b" t="t" l="l"/>
            <a:pathLst>
              <a:path h="1779817" w="2281095">
                <a:moveTo>
                  <a:pt x="0" y="0"/>
                </a:moveTo>
                <a:lnTo>
                  <a:pt x="2281095" y="0"/>
                </a:lnTo>
                <a:lnTo>
                  <a:pt x="2281095" y="1779818"/>
                </a:lnTo>
                <a:lnTo>
                  <a:pt x="0" y="17798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80069" y="8432417"/>
            <a:ext cx="2385117" cy="1582618"/>
          </a:xfrm>
          <a:custGeom>
            <a:avLst/>
            <a:gdLst/>
            <a:ahLst/>
            <a:cxnLst/>
            <a:rect r="r" b="b" t="t" l="l"/>
            <a:pathLst>
              <a:path h="1582618" w="2385117">
                <a:moveTo>
                  <a:pt x="0" y="0"/>
                </a:moveTo>
                <a:lnTo>
                  <a:pt x="2385117" y="0"/>
                </a:lnTo>
                <a:lnTo>
                  <a:pt x="2385117" y="1582618"/>
                </a:lnTo>
                <a:lnTo>
                  <a:pt x="0" y="15826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96005" y="6297809"/>
            <a:ext cx="2049223" cy="2020308"/>
          </a:xfrm>
          <a:custGeom>
            <a:avLst/>
            <a:gdLst/>
            <a:ahLst/>
            <a:cxnLst/>
            <a:rect r="r" b="b" t="t" l="l"/>
            <a:pathLst>
              <a:path h="2020308" w="2049223">
                <a:moveTo>
                  <a:pt x="0" y="0"/>
                </a:moveTo>
                <a:lnTo>
                  <a:pt x="2049223" y="0"/>
                </a:lnTo>
                <a:lnTo>
                  <a:pt x="2049223" y="2020308"/>
                </a:lnTo>
                <a:lnTo>
                  <a:pt x="0" y="20203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7620" r="0" b="-1762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83069" y="283344"/>
            <a:ext cx="14999255" cy="96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  <a:spcBef>
                <a:spcPct val="0"/>
              </a:spcBef>
            </a:pPr>
            <a:r>
              <a:rPr lang="en-US" sz="5700">
                <a:solidFill>
                  <a:srgbClr val="A2583D"/>
                </a:solidFill>
                <a:latin typeface="Carelia"/>
                <a:ea typeface="Carelia"/>
                <a:cs typeface="Carelia"/>
                <a:sym typeface="Carelia"/>
              </a:rPr>
              <a:t>THE PROBLEM: HIGH CARBON EMISSIONS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1003" y="1426565"/>
            <a:ext cx="6772633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OUR EVERYDAY CHOICES LEAVE A CARBON FOOTPRINT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00626" y="1980285"/>
            <a:ext cx="234684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A2583D"/>
                </a:solidFill>
                <a:latin typeface="Carelia"/>
                <a:ea typeface="Carelia"/>
                <a:cs typeface="Carelia"/>
                <a:sym typeface="Carelia"/>
              </a:rPr>
              <a:t>DAILY ACTIVITY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5707" y="3166021"/>
            <a:ext cx="211276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TRANSPORTATION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9193" y="4733290"/>
            <a:ext cx="3471056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ELECTRICITY AND APPLIANCES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791960"/>
            <a:ext cx="3471056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FOOD PRODUCTION AND WASTE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92046" y="8841456"/>
            <a:ext cx="1224677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LANDFILLS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93636" y="2970758"/>
            <a:ext cx="6388266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DIRECT CO2 AND OTHER GREEN HOUSE GASES RELEASE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41567" y="4928552"/>
            <a:ext cx="651843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INDIRECT EMISSIONS THROUGH HEATING &amp; COOLING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024021" y="6791960"/>
            <a:ext cx="4727496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DIRECT GREENHOUSE GAS EMISSIONS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24021" y="8660130"/>
            <a:ext cx="5262194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PRODUCES CO2 &amp; METHANE AS IT DECOMPOSES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7694" y="2534968"/>
            <a:ext cx="17226839" cy="8673143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-1515219" y="6377515"/>
            <a:ext cx="5615732" cy="4114800"/>
          </a:xfrm>
          <a:custGeom>
            <a:avLst/>
            <a:gdLst/>
            <a:ahLst/>
            <a:cxnLst/>
            <a:rect r="r" b="b" t="t" l="l"/>
            <a:pathLst>
              <a:path h="4114800" w="5615732">
                <a:moveTo>
                  <a:pt x="0" y="0"/>
                </a:moveTo>
                <a:lnTo>
                  <a:pt x="5615732" y="0"/>
                </a:lnTo>
                <a:lnTo>
                  <a:pt x="5615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12154" y="3444771"/>
            <a:ext cx="3733246" cy="4114800"/>
          </a:xfrm>
          <a:custGeom>
            <a:avLst/>
            <a:gdLst/>
            <a:ahLst/>
            <a:cxnLst/>
            <a:rect r="r" b="b" t="t" l="l"/>
            <a:pathLst>
              <a:path h="4114800" w="3733246">
                <a:moveTo>
                  <a:pt x="0" y="0"/>
                </a:moveTo>
                <a:lnTo>
                  <a:pt x="3733246" y="0"/>
                </a:lnTo>
                <a:lnTo>
                  <a:pt x="3733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63242" y="203904"/>
            <a:ext cx="14522173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A2583D"/>
                </a:solidFill>
                <a:latin typeface="Carelia"/>
                <a:ea typeface="Carelia"/>
                <a:cs typeface="Carelia"/>
                <a:sym typeface="Carelia"/>
              </a:rPr>
              <a:t>WHY DO WE NEED A CARBON FOOTPRINT CALCULATOR?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23264" y="971550"/>
            <a:ext cx="13402900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CALCULATOR CONVERTS EVERYDAY ACTIVITIES INTO A MEASURABLE CARBON/LIFESTYLE SCORE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GRAPH SHOWS WHICH LIFESTYLE AREAS CONTRIBUTE THE MOST. A HIGHER SCORE MEANS THAT ACTIVITY HAS A GREATER RELATIVE IMPACT, MAKING THE BIGGEST CONTRIBUTORS EASY TO SPOT.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A2583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ONCE HIGH-IMPACT ACTIVITIES ARE IDENTIFIED, USERS CAN COMPARE THEIR CHOICES AND FOCUS ON THE AREAS WHERE REDUCING EMISSIONS WILL HAVE THE GREATEST EFFECT.</a:t>
            </a: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6911362" y="3970538"/>
            <a:ext cx="1946286" cy="3548665"/>
            <a:chOff x="0" y="0"/>
            <a:chExt cx="2616200" cy="4770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7625" y="50800"/>
              <a:ext cx="2519553" cy="4668837"/>
            </a:xfrm>
            <a:custGeom>
              <a:avLst/>
              <a:gdLst/>
              <a:ahLst/>
              <a:cxnLst/>
              <a:rect r="r" b="b" t="t" l="l"/>
              <a:pathLst>
                <a:path h="4668837" w="2519553">
                  <a:moveTo>
                    <a:pt x="1787525" y="68580"/>
                  </a:moveTo>
                  <a:cubicBezTo>
                    <a:pt x="1464945" y="546100"/>
                    <a:pt x="1327785" y="591820"/>
                    <a:pt x="1238885" y="656590"/>
                  </a:cubicBezTo>
                  <a:cubicBezTo>
                    <a:pt x="1169035" y="706120"/>
                    <a:pt x="1094105" y="763270"/>
                    <a:pt x="1061085" y="802640"/>
                  </a:cubicBezTo>
                  <a:cubicBezTo>
                    <a:pt x="1043305" y="822960"/>
                    <a:pt x="1045845" y="833120"/>
                    <a:pt x="1029335" y="854710"/>
                  </a:cubicBezTo>
                  <a:cubicBezTo>
                    <a:pt x="989965" y="904240"/>
                    <a:pt x="879475" y="994410"/>
                    <a:pt x="807085" y="1071880"/>
                  </a:cubicBezTo>
                  <a:cubicBezTo>
                    <a:pt x="732155" y="1154430"/>
                    <a:pt x="635635" y="1248410"/>
                    <a:pt x="587375" y="1334770"/>
                  </a:cubicBezTo>
                  <a:cubicBezTo>
                    <a:pt x="549275" y="1404620"/>
                    <a:pt x="531495" y="1470660"/>
                    <a:pt x="520065" y="1544320"/>
                  </a:cubicBezTo>
                  <a:cubicBezTo>
                    <a:pt x="506095" y="1621790"/>
                    <a:pt x="506095" y="1739900"/>
                    <a:pt x="517525" y="1793240"/>
                  </a:cubicBezTo>
                  <a:cubicBezTo>
                    <a:pt x="522605" y="1819910"/>
                    <a:pt x="534035" y="1824990"/>
                    <a:pt x="542925" y="1851660"/>
                  </a:cubicBezTo>
                  <a:cubicBezTo>
                    <a:pt x="559435" y="1901190"/>
                    <a:pt x="568325" y="2010410"/>
                    <a:pt x="592455" y="2076450"/>
                  </a:cubicBezTo>
                  <a:cubicBezTo>
                    <a:pt x="612775" y="2133600"/>
                    <a:pt x="653415" y="2166620"/>
                    <a:pt x="669925" y="2226310"/>
                  </a:cubicBezTo>
                  <a:cubicBezTo>
                    <a:pt x="691515" y="2303780"/>
                    <a:pt x="694055" y="2432050"/>
                    <a:pt x="687705" y="2506980"/>
                  </a:cubicBezTo>
                  <a:cubicBezTo>
                    <a:pt x="682625" y="2557780"/>
                    <a:pt x="673735" y="2584450"/>
                    <a:pt x="655955" y="2632710"/>
                  </a:cubicBezTo>
                  <a:cubicBezTo>
                    <a:pt x="629285" y="2706370"/>
                    <a:pt x="564515" y="2843530"/>
                    <a:pt x="526415" y="2896870"/>
                  </a:cubicBezTo>
                  <a:cubicBezTo>
                    <a:pt x="506095" y="2923540"/>
                    <a:pt x="488315" y="2928620"/>
                    <a:pt x="470535" y="2950210"/>
                  </a:cubicBezTo>
                  <a:cubicBezTo>
                    <a:pt x="448945" y="2978150"/>
                    <a:pt x="438785" y="3020060"/>
                    <a:pt x="412115" y="3053080"/>
                  </a:cubicBezTo>
                  <a:cubicBezTo>
                    <a:pt x="381635" y="3092450"/>
                    <a:pt x="321945" y="3133090"/>
                    <a:pt x="295275" y="3164840"/>
                  </a:cubicBezTo>
                  <a:cubicBezTo>
                    <a:pt x="277495" y="3186430"/>
                    <a:pt x="271145" y="3195320"/>
                    <a:pt x="258445" y="3220720"/>
                  </a:cubicBezTo>
                  <a:cubicBezTo>
                    <a:pt x="236855" y="3267710"/>
                    <a:pt x="216535" y="3376930"/>
                    <a:pt x="189865" y="3426460"/>
                  </a:cubicBezTo>
                  <a:cubicBezTo>
                    <a:pt x="170815" y="3459480"/>
                    <a:pt x="142875" y="3469640"/>
                    <a:pt x="127635" y="3501390"/>
                  </a:cubicBezTo>
                  <a:cubicBezTo>
                    <a:pt x="107315" y="3540760"/>
                    <a:pt x="98425" y="3604260"/>
                    <a:pt x="93345" y="3652520"/>
                  </a:cubicBezTo>
                  <a:cubicBezTo>
                    <a:pt x="88265" y="3696970"/>
                    <a:pt x="88265" y="3738880"/>
                    <a:pt x="90805" y="3780790"/>
                  </a:cubicBezTo>
                  <a:cubicBezTo>
                    <a:pt x="94615" y="3820160"/>
                    <a:pt x="98425" y="3858260"/>
                    <a:pt x="109855" y="3896360"/>
                  </a:cubicBezTo>
                  <a:cubicBezTo>
                    <a:pt x="122555" y="3937000"/>
                    <a:pt x="137795" y="3975100"/>
                    <a:pt x="167005" y="4017010"/>
                  </a:cubicBezTo>
                  <a:cubicBezTo>
                    <a:pt x="208915" y="4072890"/>
                    <a:pt x="278765" y="4156710"/>
                    <a:pt x="351155" y="4194810"/>
                  </a:cubicBezTo>
                  <a:cubicBezTo>
                    <a:pt x="422275" y="4230370"/>
                    <a:pt x="508635" y="4230370"/>
                    <a:pt x="598805" y="4237990"/>
                  </a:cubicBezTo>
                  <a:cubicBezTo>
                    <a:pt x="702945" y="4248150"/>
                    <a:pt x="847725" y="4245610"/>
                    <a:pt x="944245" y="4239260"/>
                  </a:cubicBezTo>
                  <a:cubicBezTo>
                    <a:pt x="1014095" y="4235450"/>
                    <a:pt x="1047115" y="4224020"/>
                    <a:pt x="1125855" y="4218940"/>
                  </a:cubicBezTo>
                  <a:cubicBezTo>
                    <a:pt x="1269365" y="4211320"/>
                    <a:pt x="1569085" y="4210050"/>
                    <a:pt x="1737995" y="4218940"/>
                  </a:cubicBezTo>
                  <a:cubicBezTo>
                    <a:pt x="1856105" y="4225290"/>
                    <a:pt x="1947545" y="4226560"/>
                    <a:pt x="2040255" y="4250690"/>
                  </a:cubicBezTo>
                  <a:cubicBezTo>
                    <a:pt x="2122805" y="4272280"/>
                    <a:pt x="2206625" y="4318000"/>
                    <a:pt x="2270125" y="4349750"/>
                  </a:cubicBezTo>
                  <a:cubicBezTo>
                    <a:pt x="2315845" y="4373880"/>
                    <a:pt x="2348865" y="4385310"/>
                    <a:pt x="2385695" y="4419600"/>
                  </a:cubicBezTo>
                  <a:cubicBezTo>
                    <a:pt x="2432685" y="4462780"/>
                    <a:pt x="2505075" y="4566920"/>
                    <a:pt x="2516505" y="4607560"/>
                  </a:cubicBezTo>
                  <a:cubicBezTo>
                    <a:pt x="2521585" y="4625340"/>
                    <a:pt x="2520315" y="4639310"/>
                    <a:pt x="2512695" y="4649470"/>
                  </a:cubicBezTo>
                  <a:cubicBezTo>
                    <a:pt x="2503805" y="4660900"/>
                    <a:pt x="2475865" y="4671060"/>
                    <a:pt x="2461895" y="4667250"/>
                  </a:cubicBezTo>
                  <a:cubicBezTo>
                    <a:pt x="2449195" y="4664710"/>
                    <a:pt x="2435225" y="4649470"/>
                    <a:pt x="2432685" y="4638040"/>
                  </a:cubicBezTo>
                  <a:cubicBezTo>
                    <a:pt x="2430145" y="4624070"/>
                    <a:pt x="2440305" y="4596130"/>
                    <a:pt x="2451735" y="4587240"/>
                  </a:cubicBezTo>
                  <a:cubicBezTo>
                    <a:pt x="2461895" y="4579620"/>
                    <a:pt x="2482215" y="4580890"/>
                    <a:pt x="2493645" y="4584700"/>
                  </a:cubicBezTo>
                  <a:cubicBezTo>
                    <a:pt x="2502535" y="4587240"/>
                    <a:pt x="2510155" y="4594860"/>
                    <a:pt x="2513965" y="4603750"/>
                  </a:cubicBezTo>
                  <a:cubicBezTo>
                    <a:pt x="2519045" y="4613910"/>
                    <a:pt x="2519045" y="4634230"/>
                    <a:pt x="2515235" y="4645660"/>
                  </a:cubicBezTo>
                  <a:cubicBezTo>
                    <a:pt x="2511425" y="4654550"/>
                    <a:pt x="2503805" y="4662170"/>
                    <a:pt x="2494915" y="4664710"/>
                  </a:cubicBezTo>
                  <a:cubicBezTo>
                    <a:pt x="2483485" y="4669790"/>
                    <a:pt x="2466975" y="4671060"/>
                    <a:pt x="2453005" y="4663440"/>
                  </a:cubicBezTo>
                  <a:cubicBezTo>
                    <a:pt x="2426335" y="4648200"/>
                    <a:pt x="2397125" y="4568190"/>
                    <a:pt x="2367915" y="4532630"/>
                  </a:cubicBezTo>
                  <a:cubicBezTo>
                    <a:pt x="2345055" y="4505960"/>
                    <a:pt x="2332355" y="4489450"/>
                    <a:pt x="2298065" y="4466590"/>
                  </a:cubicBezTo>
                  <a:cubicBezTo>
                    <a:pt x="2239645" y="4425950"/>
                    <a:pt x="2121535" y="4364990"/>
                    <a:pt x="2027555" y="4338320"/>
                  </a:cubicBezTo>
                  <a:cubicBezTo>
                    <a:pt x="1933575" y="4312920"/>
                    <a:pt x="1851025" y="4312920"/>
                    <a:pt x="1737995" y="4307840"/>
                  </a:cubicBezTo>
                  <a:cubicBezTo>
                    <a:pt x="1576705" y="4298950"/>
                    <a:pt x="1301115" y="4300220"/>
                    <a:pt x="1156335" y="4307840"/>
                  </a:cubicBezTo>
                  <a:cubicBezTo>
                    <a:pt x="1067435" y="4311650"/>
                    <a:pt x="1024255" y="4324350"/>
                    <a:pt x="944245" y="4328160"/>
                  </a:cubicBezTo>
                  <a:cubicBezTo>
                    <a:pt x="841375" y="4333240"/>
                    <a:pt x="702945" y="4338320"/>
                    <a:pt x="592455" y="4326890"/>
                  </a:cubicBezTo>
                  <a:cubicBezTo>
                    <a:pt x="492125" y="4316730"/>
                    <a:pt x="390525" y="4314190"/>
                    <a:pt x="309245" y="4272280"/>
                  </a:cubicBezTo>
                  <a:cubicBezTo>
                    <a:pt x="229235" y="4231640"/>
                    <a:pt x="155575" y="4147820"/>
                    <a:pt x="106045" y="4080510"/>
                  </a:cubicBezTo>
                  <a:cubicBezTo>
                    <a:pt x="65405" y="4024630"/>
                    <a:pt x="40005" y="3961130"/>
                    <a:pt x="22225" y="3906520"/>
                  </a:cubicBezTo>
                  <a:cubicBezTo>
                    <a:pt x="8255" y="3862070"/>
                    <a:pt x="5715" y="3822700"/>
                    <a:pt x="3175" y="3779520"/>
                  </a:cubicBezTo>
                  <a:cubicBezTo>
                    <a:pt x="-635" y="3735070"/>
                    <a:pt x="-1905" y="3684270"/>
                    <a:pt x="4445" y="3641090"/>
                  </a:cubicBezTo>
                  <a:cubicBezTo>
                    <a:pt x="10795" y="3601720"/>
                    <a:pt x="20955" y="3566160"/>
                    <a:pt x="36195" y="3528060"/>
                  </a:cubicBezTo>
                  <a:cubicBezTo>
                    <a:pt x="53975" y="3483610"/>
                    <a:pt x="84455" y="3444240"/>
                    <a:pt x="107315" y="3393440"/>
                  </a:cubicBezTo>
                  <a:cubicBezTo>
                    <a:pt x="133985" y="3329940"/>
                    <a:pt x="142875" y="3241040"/>
                    <a:pt x="182245" y="3176270"/>
                  </a:cubicBezTo>
                  <a:cubicBezTo>
                    <a:pt x="220345" y="3110230"/>
                    <a:pt x="301625" y="3051810"/>
                    <a:pt x="340995" y="3001010"/>
                  </a:cubicBezTo>
                  <a:cubicBezTo>
                    <a:pt x="367665" y="2965450"/>
                    <a:pt x="380365" y="2926080"/>
                    <a:pt x="401955" y="2904490"/>
                  </a:cubicBezTo>
                  <a:cubicBezTo>
                    <a:pt x="415925" y="2890520"/>
                    <a:pt x="431165" y="2894330"/>
                    <a:pt x="446405" y="2876550"/>
                  </a:cubicBezTo>
                  <a:cubicBezTo>
                    <a:pt x="478155" y="2842260"/>
                    <a:pt x="520065" y="2735580"/>
                    <a:pt x="545465" y="2669540"/>
                  </a:cubicBezTo>
                  <a:cubicBezTo>
                    <a:pt x="568325" y="2612390"/>
                    <a:pt x="591185" y="2566670"/>
                    <a:pt x="598805" y="2505710"/>
                  </a:cubicBezTo>
                  <a:cubicBezTo>
                    <a:pt x="608965" y="2433320"/>
                    <a:pt x="605155" y="2335530"/>
                    <a:pt x="586105" y="2258060"/>
                  </a:cubicBezTo>
                  <a:cubicBezTo>
                    <a:pt x="568325" y="2184400"/>
                    <a:pt x="511175" y="2117090"/>
                    <a:pt x="490855" y="2051050"/>
                  </a:cubicBezTo>
                  <a:cubicBezTo>
                    <a:pt x="473075" y="1993900"/>
                    <a:pt x="474345" y="1932940"/>
                    <a:pt x="461645" y="1885950"/>
                  </a:cubicBezTo>
                  <a:cubicBezTo>
                    <a:pt x="452755" y="1850390"/>
                    <a:pt x="434975" y="1833880"/>
                    <a:pt x="428625" y="1794510"/>
                  </a:cubicBezTo>
                  <a:cubicBezTo>
                    <a:pt x="417195" y="1731010"/>
                    <a:pt x="417195" y="1615440"/>
                    <a:pt x="431165" y="1531620"/>
                  </a:cubicBezTo>
                  <a:cubicBezTo>
                    <a:pt x="443865" y="1451610"/>
                    <a:pt x="462915" y="1379220"/>
                    <a:pt x="504825" y="1303020"/>
                  </a:cubicBezTo>
                  <a:cubicBezTo>
                    <a:pt x="558165" y="1206500"/>
                    <a:pt x="664845" y="1096010"/>
                    <a:pt x="744855" y="1009650"/>
                  </a:cubicBezTo>
                  <a:cubicBezTo>
                    <a:pt x="814705" y="933450"/>
                    <a:pt x="911225" y="857250"/>
                    <a:pt x="954405" y="806450"/>
                  </a:cubicBezTo>
                  <a:cubicBezTo>
                    <a:pt x="977265" y="778510"/>
                    <a:pt x="977265" y="762000"/>
                    <a:pt x="1001395" y="736600"/>
                  </a:cubicBezTo>
                  <a:cubicBezTo>
                    <a:pt x="1042035" y="692150"/>
                    <a:pt x="1120775" y="632460"/>
                    <a:pt x="1195705" y="579120"/>
                  </a:cubicBezTo>
                  <a:cubicBezTo>
                    <a:pt x="1288415" y="511810"/>
                    <a:pt x="1456055" y="450850"/>
                    <a:pt x="1523365" y="372110"/>
                  </a:cubicBezTo>
                  <a:cubicBezTo>
                    <a:pt x="1572895" y="314960"/>
                    <a:pt x="1574165" y="246380"/>
                    <a:pt x="1607185" y="186690"/>
                  </a:cubicBezTo>
                  <a:cubicBezTo>
                    <a:pt x="1640205" y="125730"/>
                    <a:pt x="1692275" y="35560"/>
                    <a:pt x="1721485" y="11430"/>
                  </a:cubicBezTo>
                  <a:cubicBezTo>
                    <a:pt x="1731645" y="2540"/>
                    <a:pt x="1740535" y="0"/>
                    <a:pt x="1750695" y="0"/>
                  </a:cubicBezTo>
                  <a:cubicBezTo>
                    <a:pt x="1759585" y="0"/>
                    <a:pt x="1772285" y="3810"/>
                    <a:pt x="1779905" y="10160"/>
                  </a:cubicBezTo>
                  <a:cubicBezTo>
                    <a:pt x="1787525" y="16510"/>
                    <a:pt x="1793875" y="27940"/>
                    <a:pt x="1795145" y="38100"/>
                  </a:cubicBezTo>
                  <a:cubicBezTo>
                    <a:pt x="1796415" y="48260"/>
                    <a:pt x="1787525" y="68580"/>
                    <a:pt x="1787525" y="68580"/>
                  </a:cubicBezTo>
                </a:path>
              </a:pathLst>
            </a:custGeom>
            <a:solidFill>
              <a:srgbClr val="912F1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41038"/>
            <a:ext cx="18310390" cy="119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8"/>
              </a:lnSpc>
            </a:pPr>
            <a:r>
              <a:rPr lang="en-US" sz="6991" b="true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CarbonTrack — Our Website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68767"/>
            <a:ext cx="17568202" cy="2589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8224" indent="-349112" lvl="1">
              <a:lnSpc>
                <a:spcPts val="4527"/>
              </a:lnSpc>
              <a:buFont typeface="Arial"/>
              <a:buChar char="•"/>
            </a:pP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An interactive carbon-</a:t>
            </a: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footprint calculator for college students</a:t>
            </a:r>
          </a:p>
          <a:p>
            <a:pPr algn="l">
              <a:lnSpc>
                <a:spcPts val="4527"/>
              </a:lnSpc>
            </a:pPr>
          </a:p>
          <a:p>
            <a:pPr algn="l" marL="698224" indent="-349112" lvl="1">
              <a:lnSpc>
                <a:spcPts val="4527"/>
              </a:lnSpc>
              <a:buFont typeface="Arial"/>
              <a:buChar char="•"/>
            </a:pP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The website asks users about their daily habits in five categories:</a:t>
            </a:r>
          </a:p>
          <a:p>
            <a:pPr algn="l">
              <a:lnSpc>
                <a:spcPts val="4527"/>
              </a:lnSpc>
            </a:pP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      Food &amp; Drink: Dietary and food-related habits.</a:t>
            </a:r>
          </a:p>
          <a:p>
            <a:pPr algn="l">
              <a:lnSpc>
                <a:spcPts val="4527"/>
              </a:lnSpc>
            </a:pPr>
          </a:p>
          <a:p>
            <a:pPr algn="l">
              <a:lnSpc>
                <a:spcPts val="4527"/>
              </a:lnSpc>
            </a:pP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      Transportation: Travel modes and distance.</a:t>
            </a:r>
          </a:p>
          <a:p>
            <a:pPr algn="l">
              <a:lnSpc>
                <a:spcPts val="4527"/>
              </a:lnSpc>
            </a:pPr>
          </a:p>
          <a:p>
            <a:pPr algn="l">
              <a:lnSpc>
                <a:spcPts val="4527"/>
              </a:lnSpc>
            </a:pP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      Electricity: Electricity usage and consumption habits.</a:t>
            </a:r>
          </a:p>
          <a:p>
            <a:pPr algn="l">
              <a:lnSpc>
                <a:spcPts val="4527"/>
              </a:lnSpc>
            </a:pPr>
          </a:p>
          <a:p>
            <a:pPr algn="l">
              <a:lnSpc>
                <a:spcPts val="4527"/>
              </a:lnSpc>
            </a:pP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Waste: Waste-generation and recycling habits.</a:t>
            </a:r>
          </a:p>
          <a:p>
            <a:pPr algn="l">
              <a:lnSpc>
                <a:spcPts val="4527"/>
              </a:lnSpc>
            </a:pPr>
          </a:p>
          <a:p>
            <a:pPr algn="l">
              <a:lnSpc>
                <a:spcPts val="4527"/>
              </a:lnSpc>
            </a:pP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      Everyday Consumption: Clothing, electronics and online purchases.</a:t>
            </a:r>
          </a:p>
          <a:p>
            <a:pPr algn="l">
              <a:lnSpc>
                <a:spcPts val="4527"/>
              </a:lnSpc>
            </a:pPr>
          </a:p>
          <a:p>
            <a:pPr algn="l" marL="698224" indent="-349112" lvl="1">
              <a:lnSpc>
                <a:spcPts val="4527"/>
              </a:lnSpc>
              <a:buFont typeface="Arial"/>
              <a:buChar char="•"/>
            </a:pPr>
            <a:r>
              <a:rPr lang="en-US" b="true" sz="3234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 Used</a:t>
            </a:r>
          </a:p>
          <a:p>
            <a:pPr algn="l">
              <a:lnSpc>
                <a:spcPts val="4527"/>
              </a:lnSpc>
            </a:pP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HTML &amp; CSS: Website structure, design and mobile compatibility.</a:t>
            </a:r>
          </a:p>
          <a:p>
            <a:pPr algn="l">
              <a:lnSpc>
                <a:spcPts val="4527"/>
              </a:lnSpc>
            </a:pPr>
            <a:r>
              <a:rPr lang="en-US" sz="3234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      JavaScript: Processes inputs, performs calculations and handles interactions</a:t>
            </a:r>
          </a:p>
          <a:p>
            <a:pPr algn="l">
              <a:lnSpc>
                <a:spcPts val="4244"/>
              </a:lnSpc>
            </a:pPr>
          </a:p>
          <a:p>
            <a:pPr algn="l">
              <a:lnSpc>
                <a:spcPts val="4244"/>
              </a:lnSpc>
            </a:pPr>
          </a:p>
          <a:p>
            <a:pPr algn="l">
              <a:lnSpc>
                <a:spcPts val="4244"/>
              </a:lnSpc>
            </a:pPr>
          </a:p>
          <a:p>
            <a:pPr algn="l">
              <a:lnSpc>
                <a:spcPts val="4244"/>
              </a:lnSpc>
            </a:pPr>
          </a:p>
          <a:p>
            <a:pPr algn="l">
              <a:lnSpc>
                <a:spcPts val="4244"/>
              </a:lnSpc>
            </a:pPr>
          </a:p>
          <a:p>
            <a:pPr algn="l">
              <a:lnSpc>
                <a:spcPts val="4244"/>
              </a:lnSpc>
            </a:pPr>
          </a:p>
          <a:p>
            <a:pPr algn="l">
              <a:lnSpc>
                <a:spcPts val="4244"/>
              </a:lnSpc>
            </a:pPr>
          </a:p>
          <a:p>
            <a:pPr algn="l">
              <a:lnSpc>
                <a:spcPts val="4244"/>
              </a:lnSpc>
            </a:pPr>
          </a:p>
          <a:p>
            <a:pPr algn="l">
              <a:lnSpc>
                <a:spcPts val="4244"/>
              </a:lnSpc>
            </a:pPr>
          </a:p>
          <a:p>
            <a:pPr algn="l">
              <a:lnSpc>
                <a:spcPts val="4244"/>
              </a:lnSpc>
            </a:pPr>
          </a:p>
          <a:p>
            <a:pPr algn="ctr">
              <a:lnSpc>
                <a:spcPts val="10097"/>
              </a:lnSpc>
            </a:pPr>
          </a:p>
          <a:p>
            <a:pPr algn="ctr">
              <a:lnSpc>
                <a:spcPts val="10097"/>
              </a:lnSpc>
            </a:pPr>
          </a:p>
          <a:p>
            <a:pPr algn="ctr">
              <a:lnSpc>
                <a:spcPts val="10097"/>
              </a:lnSpc>
            </a:pPr>
          </a:p>
          <a:p>
            <a:pPr algn="ctr">
              <a:lnSpc>
                <a:spcPts val="10097"/>
              </a:lnSpc>
            </a:pPr>
          </a:p>
          <a:p>
            <a:pPr algn="ctr">
              <a:lnSpc>
                <a:spcPts val="10097"/>
              </a:lnSpc>
            </a:pPr>
          </a:p>
          <a:p>
            <a:pPr algn="ctr">
              <a:lnSpc>
                <a:spcPts val="10097"/>
              </a:lnSpc>
            </a:pPr>
          </a:p>
          <a:p>
            <a:pPr algn="ctr">
              <a:lnSpc>
                <a:spcPts val="10097"/>
              </a:lnSpc>
            </a:pPr>
          </a:p>
          <a:p>
            <a:pPr algn="ctr">
              <a:lnSpc>
                <a:spcPts val="10097"/>
              </a:lnSpc>
            </a:pPr>
          </a:p>
          <a:p>
            <a:pPr algn="ctr">
              <a:lnSpc>
                <a:spcPts val="100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41038"/>
            <a:ext cx="18310390" cy="119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8"/>
              </a:lnSpc>
            </a:pPr>
            <a:r>
              <a:rPr lang="en-US" sz="6991" b="true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CarbonTrack — Our Website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0951" y="1635232"/>
            <a:ext cx="17427469" cy="2180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072" indent="-403036" lvl="1">
              <a:lnSpc>
                <a:spcPts val="5226"/>
              </a:lnSpc>
              <a:buFont typeface="Arial"/>
              <a:buChar char="•"/>
            </a:pPr>
            <a:r>
              <a:rPr lang="en-US" b="true" sz="3733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I</a:t>
            </a:r>
            <a:r>
              <a:rPr lang="en-US" b="true" sz="3733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Works &amp; What It</a:t>
            </a:r>
            <a:r>
              <a:rPr lang="en-US" b="true" sz="3733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3733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Shows?</a:t>
            </a:r>
          </a:p>
          <a:p>
            <a:pPr algn="l">
              <a:lnSpc>
                <a:spcPts val="4539"/>
              </a:lnSpc>
            </a:pP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User inputs → JavaScript processing → Emission estimation → Results dashboard</a:t>
            </a: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The user completes the questionnaire using sliders and selectable options.</a:t>
            </a:r>
          </a:p>
          <a:p>
            <a:pPr algn="l">
              <a:lnSpc>
                <a:spcPts val="4539"/>
              </a:lnSpc>
            </a:pP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JavaScript applies simplified emission estimates to the collected information.</a:t>
            </a:r>
          </a:p>
          <a:p>
            <a:pPr algn="l">
              <a:lnSpc>
                <a:spcPts val="4539"/>
              </a:lnSpc>
            </a:pP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The website calculates an approximate monthly carbon footprint in kg CO₂e.</a:t>
            </a:r>
          </a:p>
          <a:p>
            <a:pPr algn="l">
              <a:lnSpc>
                <a:spcPts val="4539"/>
              </a:lnSpc>
            </a:pP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It compares the emissions from each category to identify the largest contributor.</a:t>
            </a: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The website is an educational prototype using approximate estimates, not a </a:t>
            </a: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scientifically exact carbon-accounting system.</a:t>
            </a:r>
          </a:p>
          <a:p>
            <a:pPr algn="l">
              <a:lnSpc>
                <a:spcPts val="4264"/>
              </a:lnSpc>
            </a:pPr>
          </a:p>
          <a:p>
            <a:pPr algn="l">
              <a:lnSpc>
                <a:spcPts val="4126"/>
              </a:lnSpc>
            </a:pPr>
          </a:p>
          <a:p>
            <a:pPr algn="l">
              <a:lnSpc>
                <a:spcPts val="4126"/>
              </a:lnSpc>
            </a:pPr>
          </a:p>
          <a:p>
            <a:pPr algn="l">
              <a:lnSpc>
                <a:spcPts val="4126"/>
              </a:lnSpc>
            </a:pPr>
          </a:p>
          <a:p>
            <a:pPr algn="l">
              <a:lnSpc>
                <a:spcPts val="4126"/>
              </a:lnSpc>
            </a:pPr>
          </a:p>
          <a:p>
            <a:pPr algn="ctr">
              <a:lnSpc>
                <a:spcPts val="9816"/>
              </a:lnSpc>
            </a:pPr>
          </a:p>
          <a:p>
            <a:pPr algn="ctr">
              <a:lnSpc>
                <a:spcPts val="9816"/>
              </a:lnSpc>
            </a:pPr>
          </a:p>
          <a:p>
            <a:pPr algn="ctr">
              <a:lnSpc>
                <a:spcPts val="9816"/>
              </a:lnSpc>
            </a:pPr>
          </a:p>
          <a:p>
            <a:pPr algn="ctr">
              <a:lnSpc>
                <a:spcPts val="9816"/>
              </a:lnSpc>
            </a:pPr>
          </a:p>
          <a:p>
            <a:pPr algn="ctr">
              <a:lnSpc>
                <a:spcPts val="9816"/>
              </a:lnSpc>
            </a:pPr>
          </a:p>
          <a:p>
            <a:pPr algn="ctr">
              <a:lnSpc>
                <a:spcPts val="9816"/>
              </a:lnSpc>
            </a:pPr>
          </a:p>
          <a:p>
            <a:pPr algn="ctr">
              <a:lnSpc>
                <a:spcPts val="9816"/>
              </a:lnSpc>
            </a:pPr>
          </a:p>
          <a:p>
            <a:pPr algn="ctr">
              <a:lnSpc>
                <a:spcPts val="9816"/>
              </a:lnSpc>
            </a:pPr>
          </a:p>
          <a:p>
            <a:pPr algn="ctr">
              <a:lnSpc>
                <a:spcPts val="98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41038"/>
            <a:ext cx="18310390" cy="119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8"/>
              </a:lnSpc>
            </a:pPr>
            <a:r>
              <a:rPr lang="en-US" sz="6991" b="true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CarbonTrack — Our Website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3489" y="1474827"/>
            <a:ext cx="17383413" cy="23930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6" indent="-410208" lvl="1">
              <a:lnSpc>
                <a:spcPts val="5319"/>
              </a:lnSpc>
              <a:buFont typeface="Arial"/>
              <a:buChar char="•"/>
            </a:pPr>
            <a:r>
              <a:rPr lang="en-US" b="true" sz="3799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does</a:t>
            </a:r>
            <a:r>
              <a:rPr lang="en-US" b="true" sz="3799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the results page display?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Total estimated monthly footprint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Category-wise emission breakdown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La</a:t>
            </a:r>
            <a:r>
              <a:rPr lang="en-US" sz="3299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rgest emission contributor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3299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Personalized recommendations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Dynamic recommendations: displays suggestions related to users largest emission    </a:t>
            </a:r>
          </a:p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912F1F"/>
                </a:solidFill>
                <a:latin typeface="Canva Sans"/>
                <a:ea typeface="Canva Sans"/>
                <a:cs typeface="Canva Sans"/>
                <a:sym typeface="Canva Sans"/>
              </a:rPr>
              <a:t>      category</a:t>
            </a:r>
          </a:p>
          <a:p>
            <a:pPr algn="l">
              <a:lnSpc>
                <a:spcPts val="4619"/>
              </a:lnSpc>
            </a:pPr>
          </a:p>
          <a:p>
            <a:pPr algn="l">
              <a:lnSpc>
                <a:spcPts val="5459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</a:p>
          <a:p>
            <a:pPr algn="ctr">
              <a:lnSpc>
                <a:spcPts val="9991"/>
              </a:lnSpc>
            </a:pPr>
          </a:p>
          <a:p>
            <a:pPr algn="ctr">
              <a:lnSpc>
                <a:spcPts val="9991"/>
              </a:lnSpc>
            </a:pPr>
          </a:p>
          <a:p>
            <a:pPr algn="ctr">
              <a:lnSpc>
                <a:spcPts val="9991"/>
              </a:lnSpc>
            </a:pPr>
          </a:p>
          <a:p>
            <a:pPr algn="ctr">
              <a:lnSpc>
                <a:spcPts val="9991"/>
              </a:lnSpc>
            </a:pPr>
          </a:p>
          <a:p>
            <a:pPr algn="ctr">
              <a:lnSpc>
                <a:spcPts val="9991"/>
              </a:lnSpc>
            </a:pPr>
          </a:p>
          <a:p>
            <a:pPr algn="ctr">
              <a:lnSpc>
                <a:spcPts val="9991"/>
              </a:lnSpc>
            </a:pPr>
          </a:p>
          <a:p>
            <a:pPr algn="ctr">
              <a:lnSpc>
                <a:spcPts val="9991"/>
              </a:lnSpc>
            </a:pPr>
          </a:p>
          <a:p>
            <a:pPr algn="ctr">
              <a:lnSpc>
                <a:spcPts val="9991"/>
              </a:lnSpc>
            </a:pPr>
          </a:p>
          <a:p>
            <a:pPr algn="ctr">
              <a:lnSpc>
                <a:spcPts val="999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4105" y="1441488"/>
            <a:ext cx="17159674" cy="1584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7470" indent="-353735" lvl="1">
              <a:lnSpc>
                <a:spcPts val="4587"/>
              </a:lnSpc>
              <a:buFont typeface="Arial"/>
              <a:buChar char="•"/>
            </a:pPr>
            <a:r>
              <a:rPr lang="en-US" b="true" sz="3276">
                <a:solidFill>
                  <a:srgbClr val="A258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Use public transportation</a:t>
            </a: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Instead of using private vehicles for every journey, we can use buses,trains,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carpooling, cycling, or walking whenever possible.</a:t>
            </a:r>
          </a:p>
          <a:p>
            <a:pPr algn="l">
              <a:lnSpc>
                <a:spcPts val="4587"/>
              </a:lnSpc>
            </a:pPr>
          </a:p>
          <a:p>
            <a:pPr algn="l" marL="707470" indent="-353735" lvl="1">
              <a:lnSpc>
                <a:spcPts val="4587"/>
              </a:lnSpc>
              <a:buFont typeface="Arial"/>
              <a:buChar char="•"/>
            </a:pPr>
            <a:r>
              <a:rPr lang="en-US" b="true" sz="3276">
                <a:solidFill>
                  <a:srgbClr val="A258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Choose Cleaner Vehicles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 We can choose vehicles that produce fewer emissions. Correct tyre pressure,</a:t>
            </a: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 regular servicing and avoiding unnecessary idling can improve fuel efficiency.</a:t>
            </a:r>
          </a:p>
          <a:p>
            <a:pPr algn="l">
              <a:lnSpc>
                <a:spcPts val="4587"/>
              </a:lnSpc>
            </a:pPr>
          </a:p>
          <a:p>
            <a:pPr algn="l" marL="707470" indent="-353735" lvl="1">
              <a:lnSpc>
                <a:spcPts val="4587"/>
              </a:lnSpc>
              <a:buFont typeface="Arial"/>
              <a:buChar char="•"/>
            </a:pPr>
            <a:r>
              <a:rPr lang="en-US" b="true" sz="3276">
                <a:solidFill>
                  <a:srgbClr val="A258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Reduce Electricity Consumption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 Air conditioners can also be used responsibly by setting a suitable temperature 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 and keeping doors and windows closed while they are running.</a:t>
            </a:r>
          </a:p>
          <a:p>
            <a:pPr algn="l">
              <a:lnSpc>
                <a:spcPts val="4587"/>
              </a:lnSpc>
            </a:pPr>
          </a:p>
          <a:p>
            <a:pPr algn="l" marL="707470" indent="-353735" lvl="1">
              <a:lnSpc>
                <a:spcPts val="4587"/>
              </a:lnSpc>
              <a:buFont typeface="Arial"/>
              <a:buChar char="•"/>
            </a:pPr>
            <a:r>
              <a:rPr lang="en-US" b="true" sz="3276">
                <a:solidFill>
                  <a:srgbClr val="A258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Use Renewable Energy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Solar and wind energy produce electricity with much lower carbon emissions than </a:t>
            </a: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fossil-fuel-based energy.</a:t>
            </a:r>
          </a:p>
          <a:p>
            <a:pPr algn="l">
              <a:lnSpc>
                <a:spcPts val="4587"/>
              </a:lnSpc>
            </a:pPr>
          </a:p>
          <a:p>
            <a:pPr algn="l">
              <a:lnSpc>
                <a:spcPts val="4587"/>
              </a:lnSpc>
            </a:pPr>
          </a:p>
          <a:p>
            <a:pPr algn="l">
              <a:lnSpc>
                <a:spcPts val="4587"/>
              </a:lnSpc>
            </a:pPr>
            <a:r>
              <a:rPr lang="en-US" sz="3276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           </a:t>
            </a: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  <a:r>
              <a:rPr lang="en-US" sz="2595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             </a:t>
            </a: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  <a:r>
              <a:rPr lang="en-US" sz="2595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     </a:t>
            </a: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41038"/>
            <a:ext cx="18310390" cy="119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8"/>
              </a:lnSpc>
            </a:pPr>
            <a:r>
              <a:rPr lang="en-US" sz="6991" b="true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WAYS TO REDUCE CARBON EMISSION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4105" y="1441488"/>
            <a:ext cx="17159674" cy="1598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A258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Reduce, Reuse and Recycle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We should reduce unnecessary consumption.We should reuse products whenever possible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instead of throwing them away after one use.Materials such as paper, plastic, glass and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metal should be separated and recycled properly.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A258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Make Sustainable Shopping Choices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We can avoid buying products that we do not really need and choose durable products that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can be used for a longer period.Carrying reusable shopping bags instead of using disposable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ones is another simple step.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A258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Save Water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Water needs to be pumped, treated, heated and transported, and all these processes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require energy.We can close taps when they are not needed, repair leaking taps and pipes,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take shorter showers and avoid unnecessary water usage.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A2583D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Use Digital Resources Wisely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We can avoid keeping unnecessary devices switched on and unplug chargers when they are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not being used.We can also extend the life of electronic devices by taking proper care of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them instead of replacing them unnecessarily.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</a:t>
            </a: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  <a:r>
              <a:rPr lang="en-US" sz="2595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             </a:t>
            </a: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  <a:r>
              <a:rPr lang="en-US" sz="2595">
                <a:solidFill>
                  <a:srgbClr val="A2583D"/>
                </a:solidFill>
                <a:latin typeface="Open Sans 2"/>
                <a:ea typeface="Open Sans 2"/>
                <a:cs typeface="Open Sans 2"/>
                <a:sym typeface="Open Sans 2"/>
              </a:rPr>
              <a:t>            </a:t>
            </a: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  <a:p>
            <a:pPr algn="l">
              <a:lnSpc>
                <a:spcPts val="363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41038"/>
            <a:ext cx="18310390" cy="119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88"/>
              </a:lnSpc>
            </a:pPr>
            <a:r>
              <a:rPr lang="en-US" sz="6991" b="true">
                <a:solidFill>
                  <a:srgbClr val="912F1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WAYS TO REDUCE CARBON EMISSION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769009"/>
            <a:ext cx="7661192" cy="6132146"/>
          </a:xfrm>
          <a:custGeom>
            <a:avLst/>
            <a:gdLst/>
            <a:ahLst/>
            <a:cxnLst/>
            <a:rect r="r" b="b" t="t" l="l"/>
            <a:pathLst>
              <a:path h="6132146" w="7661192">
                <a:moveTo>
                  <a:pt x="0" y="0"/>
                </a:moveTo>
                <a:lnTo>
                  <a:pt x="7661192" y="0"/>
                </a:lnTo>
                <a:lnTo>
                  <a:pt x="7661192" y="6132146"/>
                </a:lnTo>
                <a:lnTo>
                  <a:pt x="0" y="6132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3788" y="2614104"/>
            <a:ext cx="16605512" cy="7038734"/>
            <a:chOff x="0" y="0"/>
            <a:chExt cx="3167212" cy="13425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7212" cy="1342516"/>
            </a:xfrm>
            <a:custGeom>
              <a:avLst/>
              <a:gdLst/>
              <a:ahLst/>
              <a:cxnLst/>
              <a:rect r="r" b="b" t="t" l="l"/>
              <a:pathLst>
                <a:path h="1342516" w="3167212">
                  <a:moveTo>
                    <a:pt x="28046" y="0"/>
                  </a:moveTo>
                  <a:lnTo>
                    <a:pt x="3139166" y="0"/>
                  </a:lnTo>
                  <a:cubicBezTo>
                    <a:pt x="3146604" y="0"/>
                    <a:pt x="3153738" y="2955"/>
                    <a:pt x="3158997" y="8215"/>
                  </a:cubicBezTo>
                  <a:cubicBezTo>
                    <a:pt x="3164257" y="13474"/>
                    <a:pt x="3167212" y="20608"/>
                    <a:pt x="3167212" y="28046"/>
                  </a:cubicBezTo>
                  <a:lnTo>
                    <a:pt x="3167212" y="1314469"/>
                  </a:lnTo>
                  <a:cubicBezTo>
                    <a:pt x="3167212" y="1321908"/>
                    <a:pt x="3164257" y="1329041"/>
                    <a:pt x="3158997" y="1334301"/>
                  </a:cubicBezTo>
                  <a:cubicBezTo>
                    <a:pt x="3153738" y="1339561"/>
                    <a:pt x="3146604" y="1342516"/>
                    <a:pt x="3139166" y="1342516"/>
                  </a:cubicBezTo>
                  <a:lnTo>
                    <a:pt x="28046" y="1342516"/>
                  </a:lnTo>
                  <a:cubicBezTo>
                    <a:pt x="20608" y="1342516"/>
                    <a:pt x="13474" y="1339561"/>
                    <a:pt x="8215" y="1334301"/>
                  </a:cubicBezTo>
                  <a:cubicBezTo>
                    <a:pt x="2955" y="1329041"/>
                    <a:pt x="0" y="1321908"/>
                    <a:pt x="0" y="1314469"/>
                  </a:cubicBezTo>
                  <a:lnTo>
                    <a:pt x="0" y="28046"/>
                  </a:lnTo>
                  <a:cubicBezTo>
                    <a:pt x="0" y="20608"/>
                    <a:pt x="2955" y="13474"/>
                    <a:pt x="8215" y="8215"/>
                  </a:cubicBezTo>
                  <a:cubicBezTo>
                    <a:pt x="13474" y="2955"/>
                    <a:pt x="20608" y="0"/>
                    <a:pt x="28046" y="0"/>
                  </a:cubicBezTo>
                  <a:close/>
                </a:path>
              </a:pathLst>
            </a:custGeom>
            <a:solidFill>
              <a:srgbClr val="A2583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67212" cy="13806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06223" y="3308479"/>
            <a:ext cx="14820939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Improve accuracy using more detailed and location-specific emission data.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Add more lifestyle categories such as water usage and travel details.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Introduce monthly and yearly tracking of carbon footprint.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Add visual graphs to show progress over time.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Provide more personalized recommendations based on user behaviour.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7F0"/>
                </a:solidFill>
                <a:latin typeface="Open Sans 2"/>
                <a:ea typeface="Open Sans 2"/>
                <a:cs typeface="Open Sans 2"/>
                <a:sym typeface="Open Sans 2"/>
              </a:rPr>
              <a:t>Develop a dedicated mobile application in the future.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827409" y="1675710"/>
            <a:ext cx="2431891" cy="2431891"/>
          </a:xfrm>
          <a:custGeom>
            <a:avLst/>
            <a:gdLst/>
            <a:ahLst/>
            <a:cxnLst/>
            <a:rect r="r" b="b" t="t" l="l"/>
            <a:pathLst>
              <a:path h="2431891" w="2431891">
                <a:moveTo>
                  <a:pt x="0" y="0"/>
                </a:moveTo>
                <a:lnTo>
                  <a:pt x="2431891" y="0"/>
                </a:lnTo>
                <a:lnTo>
                  <a:pt x="2431891" y="2431891"/>
                </a:lnTo>
                <a:lnTo>
                  <a:pt x="0" y="2431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06223" y="-464635"/>
            <a:ext cx="1724374" cy="1724374"/>
          </a:xfrm>
          <a:custGeom>
            <a:avLst/>
            <a:gdLst/>
            <a:ahLst/>
            <a:cxnLst/>
            <a:rect r="r" b="b" t="t" l="l"/>
            <a:pathLst>
              <a:path h="1724374" w="1724374">
                <a:moveTo>
                  <a:pt x="0" y="0"/>
                </a:moveTo>
                <a:lnTo>
                  <a:pt x="1724373" y="0"/>
                </a:lnTo>
                <a:lnTo>
                  <a:pt x="1724373" y="1724374"/>
                </a:lnTo>
                <a:lnTo>
                  <a:pt x="0" y="17243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99520" y="720761"/>
            <a:ext cx="7566893" cy="189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1"/>
              </a:lnSpc>
              <a:spcBef>
                <a:spcPct val="0"/>
              </a:spcBef>
            </a:pPr>
            <a:r>
              <a:rPr lang="en-US" sz="5465">
                <a:solidFill>
                  <a:srgbClr val="A2583D"/>
                </a:solidFill>
                <a:latin typeface="Carelia"/>
                <a:ea typeface="Carelia"/>
                <a:cs typeface="Carelia"/>
                <a:sym typeface="Carelia"/>
              </a:rPr>
              <a:t>FUTURE IMPROVEMENTS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15219" y="6377515"/>
            <a:ext cx="5615732" cy="4114800"/>
          </a:xfrm>
          <a:custGeom>
            <a:avLst/>
            <a:gdLst/>
            <a:ahLst/>
            <a:cxnLst/>
            <a:rect r="r" b="b" t="t" l="l"/>
            <a:pathLst>
              <a:path h="4114800" w="5615732">
                <a:moveTo>
                  <a:pt x="0" y="0"/>
                </a:moveTo>
                <a:lnTo>
                  <a:pt x="5615732" y="0"/>
                </a:lnTo>
                <a:lnTo>
                  <a:pt x="56157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24008" y="3937635"/>
            <a:ext cx="1962150" cy="3577590"/>
            <a:chOff x="0" y="0"/>
            <a:chExt cx="2616200" cy="47701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7625" y="50800"/>
              <a:ext cx="2519553" cy="4668837"/>
            </a:xfrm>
            <a:custGeom>
              <a:avLst/>
              <a:gdLst/>
              <a:ahLst/>
              <a:cxnLst/>
              <a:rect r="r" b="b" t="t" l="l"/>
              <a:pathLst>
                <a:path h="4668837" w="2519553">
                  <a:moveTo>
                    <a:pt x="1787525" y="68580"/>
                  </a:moveTo>
                  <a:cubicBezTo>
                    <a:pt x="1464945" y="546100"/>
                    <a:pt x="1327785" y="591820"/>
                    <a:pt x="1238885" y="656590"/>
                  </a:cubicBezTo>
                  <a:cubicBezTo>
                    <a:pt x="1169035" y="706120"/>
                    <a:pt x="1094105" y="763270"/>
                    <a:pt x="1061085" y="802640"/>
                  </a:cubicBezTo>
                  <a:cubicBezTo>
                    <a:pt x="1043305" y="822960"/>
                    <a:pt x="1045845" y="833120"/>
                    <a:pt x="1029335" y="854710"/>
                  </a:cubicBezTo>
                  <a:cubicBezTo>
                    <a:pt x="989965" y="904240"/>
                    <a:pt x="879475" y="994410"/>
                    <a:pt x="807085" y="1071880"/>
                  </a:cubicBezTo>
                  <a:cubicBezTo>
                    <a:pt x="732155" y="1154430"/>
                    <a:pt x="635635" y="1248410"/>
                    <a:pt x="587375" y="1334770"/>
                  </a:cubicBezTo>
                  <a:cubicBezTo>
                    <a:pt x="549275" y="1404620"/>
                    <a:pt x="531495" y="1470660"/>
                    <a:pt x="520065" y="1544320"/>
                  </a:cubicBezTo>
                  <a:cubicBezTo>
                    <a:pt x="506095" y="1621790"/>
                    <a:pt x="506095" y="1739900"/>
                    <a:pt x="517525" y="1793240"/>
                  </a:cubicBezTo>
                  <a:cubicBezTo>
                    <a:pt x="522605" y="1819910"/>
                    <a:pt x="534035" y="1824990"/>
                    <a:pt x="542925" y="1851660"/>
                  </a:cubicBezTo>
                  <a:cubicBezTo>
                    <a:pt x="559435" y="1901190"/>
                    <a:pt x="568325" y="2010410"/>
                    <a:pt x="592455" y="2076450"/>
                  </a:cubicBezTo>
                  <a:cubicBezTo>
                    <a:pt x="612775" y="2133600"/>
                    <a:pt x="653415" y="2166620"/>
                    <a:pt x="669925" y="2226310"/>
                  </a:cubicBezTo>
                  <a:cubicBezTo>
                    <a:pt x="691515" y="2303780"/>
                    <a:pt x="694055" y="2432050"/>
                    <a:pt x="687705" y="2506980"/>
                  </a:cubicBezTo>
                  <a:cubicBezTo>
                    <a:pt x="682625" y="2557780"/>
                    <a:pt x="673735" y="2584450"/>
                    <a:pt x="655955" y="2632710"/>
                  </a:cubicBezTo>
                  <a:cubicBezTo>
                    <a:pt x="629285" y="2706370"/>
                    <a:pt x="564515" y="2843530"/>
                    <a:pt x="526415" y="2896870"/>
                  </a:cubicBezTo>
                  <a:cubicBezTo>
                    <a:pt x="506095" y="2923540"/>
                    <a:pt x="488315" y="2928620"/>
                    <a:pt x="470535" y="2950210"/>
                  </a:cubicBezTo>
                  <a:cubicBezTo>
                    <a:pt x="448945" y="2978150"/>
                    <a:pt x="438785" y="3020060"/>
                    <a:pt x="412115" y="3053080"/>
                  </a:cubicBezTo>
                  <a:cubicBezTo>
                    <a:pt x="381635" y="3092450"/>
                    <a:pt x="321945" y="3133090"/>
                    <a:pt x="295275" y="3164840"/>
                  </a:cubicBezTo>
                  <a:cubicBezTo>
                    <a:pt x="277495" y="3186430"/>
                    <a:pt x="271145" y="3195320"/>
                    <a:pt x="258445" y="3220720"/>
                  </a:cubicBezTo>
                  <a:cubicBezTo>
                    <a:pt x="236855" y="3267710"/>
                    <a:pt x="216535" y="3376930"/>
                    <a:pt x="189865" y="3426460"/>
                  </a:cubicBezTo>
                  <a:cubicBezTo>
                    <a:pt x="170815" y="3459480"/>
                    <a:pt x="142875" y="3469640"/>
                    <a:pt x="127635" y="3501390"/>
                  </a:cubicBezTo>
                  <a:cubicBezTo>
                    <a:pt x="107315" y="3540760"/>
                    <a:pt x="98425" y="3604260"/>
                    <a:pt x="93345" y="3652520"/>
                  </a:cubicBezTo>
                  <a:cubicBezTo>
                    <a:pt x="88265" y="3696970"/>
                    <a:pt x="88265" y="3738880"/>
                    <a:pt x="90805" y="3780790"/>
                  </a:cubicBezTo>
                  <a:cubicBezTo>
                    <a:pt x="94615" y="3820160"/>
                    <a:pt x="98425" y="3858260"/>
                    <a:pt x="109855" y="3896360"/>
                  </a:cubicBezTo>
                  <a:cubicBezTo>
                    <a:pt x="122555" y="3937000"/>
                    <a:pt x="137795" y="3975100"/>
                    <a:pt x="167005" y="4017010"/>
                  </a:cubicBezTo>
                  <a:cubicBezTo>
                    <a:pt x="208915" y="4072890"/>
                    <a:pt x="278765" y="4156710"/>
                    <a:pt x="351155" y="4194810"/>
                  </a:cubicBezTo>
                  <a:cubicBezTo>
                    <a:pt x="422275" y="4230370"/>
                    <a:pt x="508635" y="4230370"/>
                    <a:pt x="598805" y="4237990"/>
                  </a:cubicBezTo>
                  <a:cubicBezTo>
                    <a:pt x="702945" y="4248150"/>
                    <a:pt x="847725" y="4245610"/>
                    <a:pt x="944245" y="4239260"/>
                  </a:cubicBezTo>
                  <a:cubicBezTo>
                    <a:pt x="1014095" y="4235450"/>
                    <a:pt x="1047115" y="4224020"/>
                    <a:pt x="1125855" y="4218940"/>
                  </a:cubicBezTo>
                  <a:cubicBezTo>
                    <a:pt x="1269365" y="4211320"/>
                    <a:pt x="1569085" y="4210050"/>
                    <a:pt x="1737995" y="4218940"/>
                  </a:cubicBezTo>
                  <a:cubicBezTo>
                    <a:pt x="1856105" y="4225290"/>
                    <a:pt x="1947545" y="4226560"/>
                    <a:pt x="2040255" y="4250690"/>
                  </a:cubicBezTo>
                  <a:cubicBezTo>
                    <a:pt x="2122805" y="4272280"/>
                    <a:pt x="2206625" y="4318000"/>
                    <a:pt x="2270125" y="4349750"/>
                  </a:cubicBezTo>
                  <a:cubicBezTo>
                    <a:pt x="2315845" y="4373880"/>
                    <a:pt x="2348865" y="4385310"/>
                    <a:pt x="2385695" y="4419600"/>
                  </a:cubicBezTo>
                  <a:cubicBezTo>
                    <a:pt x="2432685" y="4462780"/>
                    <a:pt x="2505075" y="4566920"/>
                    <a:pt x="2516505" y="4607560"/>
                  </a:cubicBezTo>
                  <a:cubicBezTo>
                    <a:pt x="2521585" y="4625340"/>
                    <a:pt x="2520315" y="4639310"/>
                    <a:pt x="2512695" y="4649470"/>
                  </a:cubicBezTo>
                  <a:cubicBezTo>
                    <a:pt x="2503805" y="4660900"/>
                    <a:pt x="2475865" y="4671060"/>
                    <a:pt x="2461895" y="4667250"/>
                  </a:cubicBezTo>
                  <a:cubicBezTo>
                    <a:pt x="2449195" y="4664710"/>
                    <a:pt x="2435225" y="4649470"/>
                    <a:pt x="2432685" y="4638040"/>
                  </a:cubicBezTo>
                  <a:cubicBezTo>
                    <a:pt x="2430145" y="4624070"/>
                    <a:pt x="2440305" y="4596130"/>
                    <a:pt x="2451735" y="4587240"/>
                  </a:cubicBezTo>
                  <a:cubicBezTo>
                    <a:pt x="2461895" y="4579620"/>
                    <a:pt x="2482215" y="4580890"/>
                    <a:pt x="2493645" y="4584700"/>
                  </a:cubicBezTo>
                  <a:cubicBezTo>
                    <a:pt x="2502535" y="4587240"/>
                    <a:pt x="2510155" y="4594860"/>
                    <a:pt x="2513965" y="4603750"/>
                  </a:cubicBezTo>
                  <a:cubicBezTo>
                    <a:pt x="2519045" y="4613910"/>
                    <a:pt x="2519045" y="4634230"/>
                    <a:pt x="2515235" y="4645660"/>
                  </a:cubicBezTo>
                  <a:cubicBezTo>
                    <a:pt x="2511425" y="4654550"/>
                    <a:pt x="2503805" y="4662170"/>
                    <a:pt x="2494915" y="4664710"/>
                  </a:cubicBezTo>
                  <a:cubicBezTo>
                    <a:pt x="2483485" y="4669790"/>
                    <a:pt x="2466975" y="4671060"/>
                    <a:pt x="2453005" y="4663440"/>
                  </a:cubicBezTo>
                  <a:cubicBezTo>
                    <a:pt x="2426335" y="4648200"/>
                    <a:pt x="2397125" y="4568190"/>
                    <a:pt x="2367915" y="4532630"/>
                  </a:cubicBezTo>
                  <a:cubicBezTo>
                    <a:pt x="2345055" y="4505960"/>
                    <a:pt x="2332355" y="4489450"/>
                    <a:pt x="2298065" y="4466590"/>
                  </a:cubicBezTo>
                  <a:cubicBezTo>
                    <a:pt x="2239645" y="4425950"/>
                    <a:pt x="2121535" y="4364990"/>
                    <a:pt x="2027555" y="4338320"/>
                  </a:cubicBezTo>
                  <a:cubicBezTo>
                    <a:pt x="1933575" y="4312920"/>
                    <a:pt x="1851025" y="4312920"/>
                    <a:pt x="1737995" y="4307840"/>
                  </a:cubicBezTo>
                  <a:cubicBezTo>
                    <a:pt x="1576705" y="4298950"/>
                    <a:pt x="1301115" y="4300220"/>
                    <a:pt x="1156335" y="4307840"/>
                  </a:cubicBezTo>
                  <a:cubicBezTo>
                    <a:pt x="1067435" y="4311650"/>
                    <a:pt x="1024255" y="4324350"/>
                    <a:pt x="944245" y="4328160"/>
                  </a:cubicBezTo>
                  <a:cubicBezTo>
                    <a:pt x="841375" y="4333240"/>
                    <a:pt x="702945" y="4338320"/>
                    <a:pt x="592455" y="4326890"/>
                  </a:cubicBezTo>
                  <a:cubicBezTo>
                    <a:pt x="492125" y="4316730"/>
                    <a:pt x="390525" y="4314190"/>
                    <a:pt x="309245" y="4272280"/>
                  </a:cubicBezTo>
                  <a:cubicBezTo>
                    <a:pt x="229235" y="4231640"/>
                    <a:pt x="155575" y="4147820"/>
                    <a:pt x="106045" y="4080510"/>
                  </a:cubicBezTo>
                  <a:cubicBezTo>
                    <a:pt x="65405" y="4024630"/>
                    <a:pt x="40005" y="3961130"/>
                    <a:pt x="22225" y="3906520"/>
                  </a:cubicBezTo>
                  <a:cubicBezTo>
                    <a:pt x="8255" y="3862070"/>
                    <a:pt x="5715" y="3822700"/>
                    <a:pt x="3175" y="3779520"/>
                  </a:cubicBezTo>
                  <a:cubicBezTo>
                    <a:pt x="-635" y="3735070"/>
                    <a:pt x="-1905" y="3684270"/>
                    <a:pt x="4445" y="3641090"/>
                  </a:cubicBezTo>
                  <a:cubicBezTo>
                    <a:pt x="10795" y="3601720"/>
                    <a:pt x="20955" y="3566160"/>
                    <a:pt x="36195" y="3528060"/>
                  </a:cubicBezTo>
                  <a:cubicBezTo>
                    <a:pt x="53975" y="3483610"/>
                    <a:pt x="84455" y="3444240"/>
                    <a:pt x="107315" y="3393440"/>
                  </a:cubicBezTo>
                  <a:cubicBezTo>
                    <a:pt x="133985" y="3329940"/>
                    <a:pt x="142875" y="3241040"/>
                    <a:pt x="182245" y="3176270"/>
                  </a:cubicBezTo>
                  <a:cubicBezTo>
                    <a:pt x="220345" y="3110230"/>
                    <a:pt x="301625" y="3051810"/>
                    <a:pt x="340995" y="3001010"/>
                  </a:cubicBezTo>
                  <a:cubicBezTo>
                    <a:pt x="367665" y="2965450"/>
                    <a:pt x="380365" y="2926080"/>
                    <a:pt x="401955" y="2904490"/>
                  </a:cubicBezTo>
                  <a:cubicBezTo>
                    <a:pt x="415925" y="2890520"/>
                    <a:pt x="431165" y="2894330"/>
                    <a:pt x="446405" y="2876550"/>
                  </a:cubicBezTo>
                  <a:cubicBezTo>
                    <a:pt x="478155" y="2842260"/>
                    <a:pt x="520065" y="2735580"/>
                    <a:pt x="545465" y="2669540"/>
                  </a:cubicBezTo>
                  <a:cubicBezTo>
                    <a:pt x="568325" y="2612390"/>
                    <a:pt x="591185" y="2566670"/>
                    <a:pt x="598805" y="2505710"/>
                  </a:cubicBezTo>
                  <a:cubicBezTo>
                    <a:pt x="608965" y="2433320"/>
                    <a:pt x="605155" y="2335530"/>
                    <a:pt x="586105" y="2258060"/>
                  </a:cubicBezTo>
                  <a:cubicBezTo>
                    <a:pt x="568325" y="2184400"/>
                    <a:pt x="511175" y="2117090"/>
                    <a:pt x="490855" y="2051050"/>
                  </a:cubicBezTo>
                  <a:cubicBezTo>
                    <a:pt x="473075" y="1993900"/>
                    <a:pt x="474345" y="1932940"/>
                    <a:pt x="461645" y="1885950"/>
                  </a:cubicBezTo>
                  <a:cubicBezTo>
                    <a:pt x="452755" y="1850390"/>
                    <a:pt x="434975" y="1833880"/>
                    <a:pt x="428625" y="1794510"/>
                  </a:cubicBezTo>
                  <a:cubicBezTo>
                    <a:pt x="417195" y="1731010"/>
                    <a:pt x="417195" y="1615440"/>
                    <a:pt x="431165" y="1531620"/>
                  </a:cubicBezTo>
                  <a:cubicBezTo>
                    <a:pt x="443865" y="1451610"/>
                    <a:pt x="462915" y="1379220"/>
                    <a:pt x="504825" y="1303020"/>
                  </a:cubicBezTo>
                  <a:cubicBezTo>
                    <a:pt x="558165" y="1206500"/>
                    <a:pt x="664845" y="1096010"/>
                    <a:pt x="744855" y="1009650"/>
                  </a:cubicBezTo>
                  <a:cubicBezTo>
                    <a:pt x="814705" y="933450"/>
                    <a:pt x="911225" y="857250"/>
                    <a:pt x="954405" y="806450"/>
                  </a:cubicBezTo>
                  <a:cubicBezTo>
                    <a:pt x="977265" y="778510"/>
                    <a:pt x="977265" y="762000"/>
                    <a:pt x="1001395" y="736600"/>
                  </a:cubicBezTo>
                  <a:cubicBezTo>
                    <a:pt x="1042035" y="692150"/>
                    <a:pt x="1120775" y="632460"/>
                    <a:pt x="1195705" y="579120"/>
                  </a:cubicBezTo>
                  <a:cubicBezTo>
                    <a:pt x="1288415" y="511810"/>
                    <a:pt x="1456055" y="450850"/>
                    <a:pt x="1523365" y="372110"/>
                  </a:cubicBezTo>
                  <a:cubicBezTo>
                    <a:pt x="1572895" y="314960"/>
                    <a:pt x="1574165" y="246380"/>
                    <a:pt x="1607185" y="186690"/>
                  </a:cubicBezTo>
                  <a:cubicBezTo>
                    <a:pt x="1640205" y="125730"/>
                    <a:pt x="1692275" y="35560"/>
                    <a:pt x="1721485" y="11430"/>
                  </a:cubicBezTo>
                  <a:cubicBezTo>
                    <a:pt x="1731645" y="2540"/>
                    <a:pt x="1740535" y="0"/>
                    <a:pt x="1750695" y="0"/>
                  </a:cubicBezTo>
                  <a:cubicBezTo>
                    <a:pt x="1759585" y="0"/>
                    <a:pt x="1772285" y="3810"/>
                    <a:pt x="1779905" y="10160"/>
                  </a:cubicBezTo>
                  <a:cubicBezTo>
                    <a:pt x="1787525" y="16510"/>
                    <a:pt x="1793875" y="27940"/>
                    <a:pt x="1795145" y="38100"/>
                  </a:cubicBezTo>
                  <a:cubicBezTo>
                    <a:pt x="1796415" y="48260"/>
                    <a:pt x="1787525" y="68580"/>
                    <a:pt x="1787525" y="68580"/>
                  </a:cubicBezTo>
                </a:path>
              </a:pathLst>
            </a:custGeom>
            <a:solidFill>
              <a:srgbClr val="912F1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273492" y="-624613"/>
            <a:ext cx="2566139" cy="4114800"/>
          </a:xfrm>
          <a:custGeom>
            <a:avLst/>
            <a:gdLst/>
            <a:ahLst/>
            <a:cxnLst/>
            <a:rect r="r" b="b" t="t" l="l"/>
            <a:pathLst>
              <a:path h="4114800" w="2566139">
                <a:moveTo>
                  <a:pt x="0" y="0"/>
                </a:moveTo>
                <a:lnTo>
                  <a:pt x="2566139" y="0"/>
                </a:lnTo>
                <a:lnTo>
                  <a:pt x="25661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24008" y="4064543"/>
            <a:ext cx="2698279" cy="2974055"/>
          </a:xfrm>
          <a:custGeom>
            <a:avLst/>
            <a:gdLst/>
            <a:ahLst/>
            <a:cxnLst/>
            <a:rect r="r" b="b" t="t" l="l"/>
            <a:pathLst>
              <a:path h="2974055" w="2698279">
                <a:moveTo>
                  <a:pt x="0" y="0"/>
                </a:moveTo>
                <a:lnTo>
                  <a:pt x="2698279" y="0"/>
                </a:lnTo>
                <a:lnTo>
                  <a:pt x="2698279" y="2974055"/>
                </a:lnTo>
                <a:lnTo>
                  <a:pt x="0" y="29740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99520" y="720761"/>
            <a:ext cx="7566893" cy="92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1"/>
              </a:lnSpc>
              <a:spcBef>
                <a:spcPct val="0"/>
              </a:spcBef>
            </a:pPr>
            <a:r>
              <a:rPr lang="en-US" sz="5465">
                <a:solidFill>
                  <a:srgbClr val="A2583D"/>
                </a:solidFill>
                <a:latin typeface="Carelia"/>
                <a:ea typeface="Carelia"/>
                <a:cs typeface="Carelia"/>
                <a:sym typeface="Carelia"/>
              </a:rPr>
              <a:t>CONCLUSION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39059" y="2780489"/>
            <a:ext cx="13487816" cy="581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560" indent="-394280" lvl="1">
              <a:lnSpc>
                <a:spcPts val="5113"/>
              </a:lnSpc>
              <a:buFont typeface="Arial"/>
              <a:buChar char="•"/>
            </a:pPr>
            <a:r>
              <a:rPr lang="en-US" sz="3652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CarbonTrack helps users understand their personal carbon footprint.</a:t>
            </a:r>
          </a:p>
          <a:p>
            <a:pPr algn="l" marL="788560" indent="-394280" lvl="1">
              <a:lnSpc>
                <a:spcPts val="5113"/>
              </a:lnSpc>
              <a:buFont typeface="Arial"/>
              <a:buChar char="•"/>
            </a:pPr>
            <a:r>
              <a:rPr lang="en-US" sz="3652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It converts everyday lifestyle choices into an estimated carbon emission value.</a:t>
            </a:r>
          </a:p>
          <a:p>
            <a:pPr algn="l" marL="788560" indent="-394280" lvl="1">
              <a:lnSpc>
                <a:spcPts val="5113"/>
              </a:lnSpc>
              <a:buFont typeface="Arial"/>
              <a:buChar char="•"/>
            </a:pPr>
            <a:r>
              <a:rPr lang="en-US" sz="3652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The category-wise results help identify the major sources of emissions.</a:t>
            </a:r>
          </a:p>
          <a:p>
            <a:pPr algn="l" marL="788560" indent="-394280" lvl="1">
              <a:lnSpc>
                <a:spcPts val="5113"/>
              </a:lnSpc>
              <a:buFont typeface="Arial"/>
              <a:buChar char="•"/>
            </a:pPr>
            <a:r>
              <a:rPr lang="en-US" sz="3652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Personalized recommendations encourage users to make more sustainable choices.</a:t>
            </a:r>
          </a:p>
          <a:p>
            <a:pPr algn="l" marL="788560" indent="-394280" lvl="1">
              <a:lnSpc>
                <a:spcPts val="5113"/>
              </a:lnSpc>
              <a:buFont typeface="Arial"/>
              <a:buChar char="•"/>
            </a:pPr>
            <a:r>
              <a:rPr lang="en-US" sz="3652">
                <a:solidFill>
                  <a:srgbClr val="000000"/>
                </a:solidFill>
                <a:latin typeface="Carelia"/>
                <a:ea typeface="Carelia"/>
                <a:cs typeface="Carelia"/>
                <a:sym typeface="Carelia"/>
              </a:rPr>
              <a:t>The main goal is to turn awareness into action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36A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85628" y="-450087"/>
            <a:ext cx="5309984" cy="11213601"/>
            <a:chOff x="0" y="0"/>
            <a:chExt cx="1092589" cy="2307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2589" cy="2307325"/>
            </a:xfrm>
            <a:custGeom>
              <a:avLst/>
              <a:gdLst/>
              <a:ahLst/>
              <a:cxnLst/>
              <a:rect r="r" b="b" t="t" l="l"/>
              <a:pathLst>
                <a:path h="2307325" w="1092589">
                  <a:moveTo>
                    <a:pt x="0" y="0"/>
                  </a:moveTo>
                  <a:lnTo>
                    <a:pt x="1092589" y="0"/>
                  </a:lnTo>
                  <a:lnTo>
                    <a:pt x="1092589" y="2307325"/>
                  </a:lnTo>
                  <a:lnTo>
                    <a:pt x="0" y="2307325"/>
                  </a:lnTo>
                  <a:close/>
                </a:path>
              </a:pathLst>
            </a:custGeom>
            <a:solidFill>
              <a:srgbClr val="FF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2589" cy="234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47640" y="3162300"/>
            <a:ext cx="7527626" cy="424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91"/>
              </a:lnSpc>
            </a:pPr>
            <a:r>
              <a:rPr lang="en-US" sz="14553">
                <a:solidFill>
                  <a:srgbClr val="FFF7F0"/>
                </a:solidFill>
                <a:latin typeface="Carelia"/>
                <a:ea typeface="Carelia"/>
                <a:cs typeface="Carelia"/>
                <a:sym typeface="Carelia"/>
              </a:rPr>
              <a:t>THANK YOU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3847956" y="-1949897"/>
            <a:ext cx="6844296" cy="12935956"/>
          </a:xfrm>
          <a:custGeom>
            <a:avLst/>
            <a:gdLst/>
            <a:ahLst/>
            <a:cxnLst/>
            <a:rect r="r" b="b" t="t" l="l"/>
            <a:pathLst>
              <a:path h="12935956" w="6844296">
                <a:moveTo>
                  <a:pt x="0" y="0"/>
                </a:moveTo>
                <a:lnTo>
                  <a:pt x="6844296" y="0"/>
                </a:lnTo>
                <a:lnTo>
                  <a:pt x="6844296" y="12935956"/>
                </a:lnTo>
                <a:lnTo>
                  <a:pt x="0" y="12935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95712" y="-1028700"/>
            <a:ext cx="4092356" cy="4114800"/>
          </a:xfrm>
          <a:custGeom>
            <a:avLst/>
            <a:gdLst/>
            <a:ahLst/>
            <a:cxnLst/>
            <a:rect r="r" b="b" t="t" l="l"/>
            <a:pathLst>
              <a:path h="4114800" w="4092356">
                <a:moveTo>
                  <a:pt x="0" y="0"/>
                </a:moveTo>
                <a:lnTo>
                  <a:pt x="4092355" y="0"/>
                </a:lnTo>
                <a:lnTo>
                  <a:pt x="40923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DAHVRQhRwBM</dc:identifier>
  <dcterms:modified xsi:type="dcterms:W3CDTF">2011-08-01T06:04:30Z</dcterms:modified>
  <cp:revision>1</cp:revision>
  <dc:title>Brown and Beige Simple Minimalist Research Project Presentation</dc:title>
</cp:coreProperties>
</file>